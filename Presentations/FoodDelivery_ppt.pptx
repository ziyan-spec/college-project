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B2A4A"/>
                </a:solidFill>
                <a:latin typeface="Arial"/>
              </a:rPr>
              <a:t>Orders by City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C34-4B37-A01D-2005A54B5169}"/>
              </c:ext>
            </c:extLst>
          </c:dPt>
          <c:dPt>
            <c:idx val="1"/>
            <c:invertIfNegative val="0"/>
            <c:bubble3D val="0"/>
            <c:spPr>
              <a:solidFill>
                <a:srgbClr val="E573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C34-4B37-A01D-2005A54B5169}"/>
              </c:ext>
            </c:extLst>
          </c:dPt>
          <c:dPt>
            <c:idx val="2"/>
            <c:invertIfNegative val="0"/>
            <c:bubble3D val="0"/>
            <c:spPr>
              <a:solidFill>
                <a:srgbClr val="EF9A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C34-4B37-A01D-2005A54B5169}"/>
              </c:ext>
            </c:extLst>
          </c:dPt>
          <c:dPt>
            <c:idx val="3"/>
            <c:invertIfNegative val="0"/>
            <c:bubble3D val="0"/>
            <c:spPr>
              <a:solidFill>
                <a:srgbClr val="FFCD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C34-4B37-A01D-2005A54B5169}"/>
              </c:ext>
            </c:extLst>
          </c:dPt>
          <c:dPt>
            <c:idx val="4"/>
            <c:invertIfNegative val="0"/>
            <c:bubble3D val="0"/>
            <c:spPr>
              <a:solidFill>
                <a:srgbClr val="FFEB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C34-4B37-A01D-2005A54B5169}"/>
              </c:ext>
            </c:extLst>
          </c:dPt>
          <c:dPt>
            <c:idx val="5"/>
            <c:invertIfNegative val="0"/>
            <c:bubble3D val="0"/>
            <c:spPr>
              <a:solidFill>
                <a:srgbClr val="FFF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C34-4B37-A01D-2005A54B516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Bengaluru</c:v>
                </c:pt>
                <c:pt idx="1">
                  <c:v>Mumbai</c:v>
                </c:pt>
                <c:pt idx="2">
                  <c:v>Delhi</c:v>
                </c:pt>
                <c:pt idx="3">
                  <c:v>Hyderabad</c:v>
                </c:pt>
                <c:pt idx="4">
                  <c:v>Chennai</c:v>
                </c:pt>
                <c:pt idx="5">
                  <c:v>Pune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43257</c:v>
                </c:pt>
                <c:pt idx="1">
                  <c:v>28641</c:v>
                </c:pt>
                <c:pt idx="2">
                  <c:v>25318</c:v>
                </c:pt>
                <c:pt idx="3">
                  <c:v>18743</c:v>
                </c:pt>
                <c:pt idx="4">
                  <c:v>16892</c:v>
                </c:pt>
                <c:pt idx="5">
                  <c:v>16315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C34-4B37-A01D-2005A54B51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B2A4A"/>
                </a:solidFill>
                <a:latin typeface="Arial"/>
              </a:rPr>
              <a:t>Orders by Time Slot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E5E7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29-4B0B-8478-35CE5B59371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529-4B0B-8478-35CE5B593712}"/>
              </c:ext>
            </c:extLst>
          </c:dPt>
          <c:dPt>
            <c:idx val="2"/>
            <c:invertIfNegative val="0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529-4B0B-8478-35CE5B59371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529-4B0B-8478-35CE5B593712}"/>
              </c:ext>
            </c:extLst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529-4B0B-8478-35CE5B59371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529-4B0B-8478-35CE5B593712}"/>
              </c:ext>
            </c:extLst>
          </c:dPt>
          <c:cat>
            <c:strRef>
              <c:f>Sheet1!$A$2:$A$7</c:f>
              <c:strCache>
                <c:ptCount val="6"/>
                <c:pt idx="0">
                  <c:v>Breakfast
6–9AM</c:v>
                </c:pt>
                <c:pt idx="1">
                  <c:v>Mid-Morning
9–12PM</c:v>
                </c:pt>
                <c:pt idx="2">
                  <c:v>Lunch
12–2PM</c:v>
                </c:pt>
                <c:pt idx="3">
                  <c:v>Afternoon
2–5PM</c:v>
                </c:pt>
                <c:pt idx="4">
                  <c:v>Dinner
7–10PM</c:v>
                </c:pt>
                <c:pt idx="5">
                  <c:v>Late Night
10PM+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8200</c:v>
                </c:pt>
                <c:pt idx="1">
                  <c:v>14300</c:v>
                </c:pt>
                <c:pt idx="2">
                  <c:v>31500</c:v>
                </c:pt>
                <c:pt idx="3">
                  <c:v>18700</c:v>
                </c:pt>
                <c:pt idx="4">
                  <c:v>39800</c:v>
                </c:pt>
                <c:pt idx="5">
                  <c:v>12400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529-4B0B-8478-35CE5B5937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B2A4A"/>
                </a:solidFill>
                <a:latin typeface="Arial"/>
              </a:rPr>
              <a:t>Revenue by Food Category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737-4C5F-BB66-22B5878C1EE3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737-4C5F-BB66-22B5878C1EE3}"/>
              </c:ext>
            </c:extLst>
          </c:dPt>
          <c:dPt>
            <c:idx val="2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737-4C5F-BB66-22B5878C1EE3}"/>
              </c:ext>
            </c:extLst>
          </c:dPt>
          <c:dPt>
            <c:idx val="3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737-4C5F-BB66-22B5878C1EE3}"/>
              </c:ext>
            </c:extLst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737-4C5F-BB66-22B5878C1EE3}"/>
              </c:ext>
            </c:extLst>
          </c:dPt>
          <c:dPt>
            <c:idx val="5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737-4C5F-BB66-22B5878C1EE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37-4C5F-BB66-22B5878C1EE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37-4C5F-BB66-22B5878C1EE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737-4C5F-BB66-22B5878C1EE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737-4C5F-BB66-22B5878C1EE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737-4C5F-BB66-22B5878C1EE3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737-4C5F-BB66-22B5878C1EE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North Indian</c:v>
                </c:pt>
                <c:pt idx="1">
                  <c:v>Biryani</c:v>
                </c:pt>
                <c:pt idx="2">
                  <c:v>Chinese</c:v>
                </c:pt>
                <c:pt idx="3">
                  <c:v>South Indian</c:v>
                </c:pt>
                <c:pt idx="4">
                  <c:v>Pizza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15</c:v>
                </c:pt>
                <c:pt idx="3">
                  <c:v>12</c:v>
                </c:pt>
                <c:pt idx="4">
                  <c:v>11</c:v>
                </c:pt>
                <c:pt idx="5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737-4C5F-BB66-22B5878C1E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34.200000000000003</c:v>
                </c:pt>
                <c:pt idx="1">
                  <c:v>35.799999999999997</c:v>
                </c:pt>
                <c:pt idx="2">
                  <c:v>38.1</c:v>
                </c:pt>
                <c:pt idx="3">
                  <c:v>40.5</c:v>
                </c:pt>
                <c:pt idx="4">
                  <c:v>42.3</c:v>
                </c:pt>
                <c:pt idx="5">
                  <c:v>41.3</c:v>
                </c:pt>
                <c:pt idx="6">
                  <c:v>43.7</c:v>
                </c:pt>
                <c:pt idx="7">
                  <c:v>45.2</c:v>
                </c:pt>
                <c:pt idx="8">
                  <c:v>47.1</c:v>
                </c:pt>
                <c:pt idx="9">
                  <c:v>49.3</c:v>
                </c:pt>
                <c:pt idx="10">
                  <c:v>51</c:v>
                </c:pt>
                <c:pt idx="11">
                  <c:v>52.7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EFE-4B32-AEE6-A4E643F384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B2A4A"/>
                </a:solidFill>
                <a:latin typeface="Arial"/>
              </a:rPr>
              <a:t>Cancellation % by City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510-428A-9146-1143D891ABA4}"/>
              </c:ext>
            </c:extLst>
          </c:dPt>
          <c:dPt>
            <c:idx val="1"/>
            <c:invertIfNegative val="0"/>
            <c:bubble3D val="0"/>
            <c:spPr>
              <a:solidFill>
                <a:srgbClr val="E573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10-428A-9146-1143D891ABA4}"/>
              </c:ext>
            </c:extLst>
          </c:dPt>
          <c:dPt>
            <c:idx val="2"/>
            <c:invertIfNegative val="0"/>
            <c:bubble3D val="0"/>
            <c:spPr>
              <a:solidFill>
                <a:srgbClr val="EF9A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10-428A-9146-1143D891ABA4}"/>
              </c:ext>
            </c:extLst>
          </c:dPt>
          <c:dPt>
            <c:idx val="3"/>
            <c:invertIfNegative val="0"/>
            <c:bubble3D val="0"/>
            <c:spPr>
              <a:solidFill>
                <a:srgbClr val="FFCD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510-428A-9146-1143D891ABA4}"/>
              </c:ext>
            </c:extLst>
          </c:dPt>
          <c:dPt>
            <c:idx val="4"/>
            <c:invertIfNegative val="0"/>
            <c:bubble3D val="0"/>
            <c:spPr>
              <a:solidFill>
                <a:srgbClr val="FFEB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510-428A-9146-1143D891ABA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Bengaluru</c:v>
                </c:pt>
                <c:pt idx="1">
                  <c:v>Mumbai</c:v>
                </c:pt>
                <c:pt idx="2">
                  <c:v>Delhi</c:v>
                </c:pt>
                <c:pt idx="3">
                  <c:v>Hyderabad</c:v>
                </c:pt>
                <c:pt idx="4">
                  <c:v>Chennai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8.1999999999999993</c:v>
                </c:pt>
                <c:pt idx="1">
                  <c:v>7.8</c:v>
                </c:pt>
                <c:pt idx="2">
                  <c:v>7.4</c:v>
                </c:pt>
                <c:pt idx="3">
                  <c:v>6.9</c:v>
                </c:pt>
                <c:pt idx="4">
                  <c:v>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510-428A-9146-1143D891AB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B2A4A"/>
                </a:solidFill>
                <a:latin typeface="Arial"/>
              </a:rPr>
              <a:t>Revenue by Acquisition Channel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149-4769-BE64-501BE5780AD3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49-4769-BE64-501BE5780AD3}"/>
              </c:ext>
            </c:extLst>
          </c:dPt>
          <c:dPt>
            <c:idx val="2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149-4769-BE64-501BE5780AD3}"/>
              </c:ext>
            </c:extLst>
          </c:dPt>
          <c:dPt>
            <c:idx val="3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149-4769-BE64-501BE5780AD3}"/>
              </c:ext>
            </c:extLst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149-4769-BE64-501BE5780AD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149-4769-BE64-501BE5780AD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149-4769-BE64-501BE5780AD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149-4769-BE64-501BE5780AD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149-4769-BE64-501BE5780AD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149-4769-BE64-501BE5780AD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Referral</c:v>
                </c:pt>
                <c:pt idx="1">
                  <c:v>Organic</c:v>
                </c:pt>
                <c:pt idx="2">
                  <c:v>Paid Ad</c:v>
                </c:pt>
                <c:pt idx="3">
                  <c:v>Social Media</c:v>
                </c:pt>
                <c:pt idx="4">
                  <c:v>Influencer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</c:v>
                </c:pt>
                <c:pt idx="1">
                  <c:v>24</c:v>
                </c:pt>
                <c:pt idx="2">
                  <c:v>21</c:v>
                </c:pt>
                <c:pt idx="3">
                  <c:v>18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149-4769-BE64-501BE5780A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B2A4A"/>
                </a:solidFill>
                <a:latin typeface="Arial"/>
              </a:rPr>
              <a:t>Avg Rating by Cuisine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236-4C67-8648-EE4A15EAC2F4}"/>
              </c:ext>
            </c:extLst>
          </c:dPt>
          <c:dPt>
            <c:idx val="1"/>
            <c:invertIfNegative val="0"/>
            <c:bubble3D val="0"/>
            <c:spPr>
              <a:solidFill>
                <a:srgbClr val="66BB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36-4C67-8648-EE4A15EAC2F4}"/>
              </c:ext>
            </c:extLst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236-4C67-8648-EE4A15EAC2F4}"/>
              </c:ext>
            </c:extLst>
          </c:dPt>
          <c:dPt>
            <c:idx val="3"/>
            <c:invertIfNegative val="0"/>
            <c:bubble3D val="0"/>
            <c:spPr>
              <a:solidFill>
                <a:srgbClr val="FFB7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236-4C67-8648-EE4A15EAC2F4}"/>
              </c:ext>
            </c:extLst>
          </c:dPt>
          <c:dPt>
            <c:idx val="4"/>
            <c:invertIfNegative val="0"/>
            <c:bubble3D val="0"/>
            <c:spPr>
              <a:solidFill>
                <a:srgbClr val="FF8A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236-4C67-8648-EE4A15EAC2F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South Indian</c:v>
                </c:pt>
                <c:pt idx="1">
                  <c:v>North Indian</c:v>
                </c:pt>
                <c:pt idx="2">
                  <c:v>Biryani</c:v>
                </c:pt>
                <c:pt idx="3">
                  <c:v>Chinese</c:v>
                </c:pt>
                <c:pt idx="4">
                  <c:v>Pizza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4.2</c:v>
                </c:pt>
                <c:pt idx="2">
                  <c:v>4.0999999999999996</c:v>
                </c:pt>
                <c:pt idx="3">
                  <c:v>3.9</c:v>
                </c:pt>
                <c:pt idx="4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236-4C67-8648-EE4A15EAC2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A4A"/>
                </a:solidFill>
                <a:latin typeface="Arial"/>
              </a:rPr>
              <a:t>Avg Order Value by Discount Tier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Order Value (₹)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D20-496F-BB92-BC720E292625}"/>
              </c:ext>
            </c:extLst>
          </c:dPt>
          <c:dPt>
            <c:idx val="1"/>
            <c:invertIfNegative val="0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D20-496F-BB92-BC720E292625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D20-496F-BB92-BC720E292625}"/>
              </c:ext>
            </c:extLst>
          </c:dPt>
          <c:dPt>
            <c:idx val="3"/>
            <c:invertIfNegative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D20-496F-BB92-BC720E29262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 Discount</c:v>
                </c:pt>
                <c:pt idx="1">
                  <c:v>Low (₹1–25)</c:v>
                </c:pt>
                <c:pt idx="2">
                  <c:v>Medium (₹25–75)</c:v>
                </c:pt>
                <c:pt idx="3">
                  <c:v>High (₹75+)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312</c:v>
                </c:pt>
                <c:pt idx="1">
                  <c:v>334</c:v>
                </c:pt>
                <c:pt idx="2">
                  <c:v>378</c:v>
                </c:pt>
                <c:pt idx="3">
                  <c:v>423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D20-496F-BB92-BC720E2926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6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24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0972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Delivery Startup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NumPy  ·  Matplotlib  ·  Seaborn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931920"/>
            <a:ext cx="192024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3950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1,49,166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79192" y="3931920"/>
            <a:ext cx="192024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24912" y="3950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₹4.85 Cr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24912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55464" y="3931920"/>
            <a:ext cx="192024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01184" y="3950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4.05 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01184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31736" y="3931920"/>
            <a:ext cx="192024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077456" y="39502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CSVs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77456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Analysis?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food delivery market has grown fast, but scaling a startup means dealing with a lot of operational chaos — late deliveries, cancellations, uneven city performance, and discounts that may or may not be working.
For this project, We picked </a:t>
            </a:r>
            <a:r>
              <a:rPr lang="en-GB" sz="1400" dirty="0"/>
              <a:t>QuickBite Express,</a:t>
            </a: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food delivery startup dataset to find out: where is the business actually strong, where is it leaking, and what should the team fix first?
The analysis covers 1.49 lakh+ orders across Indian cities using a star-schema dataset of 8 CSV files.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188720"/>
            <a:ext cx="3017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669280" y="1188720"/>
            <a:ext cx="41148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669280" y="12801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72200" y="129844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revenue and growth concentrated?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2194560"/>
            <a:ext cx="3017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669280" y="2194560"/>
            <a:ext cx="41148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0" y="22860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72200" y="230428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causing 63% of deliveries to be late?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3200400"/>
            <a:ext cx="3017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669280" y="3200400"/>
            <a:ext cx="41148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0" y="329184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331012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discounts and channels actually working?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· 8 CSV files · 1.49 lakh+ orders across Indian cities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</a:rPr>
              <a:t>DIMENSION TABLES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84048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6550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93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1,07,776 rows  —  Customer demographics &amp; acquisition channel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384048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4323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dim_restaurant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066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19,995 rows  —  Restaurant city, cuisine, type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384048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32095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dim_menu_item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48386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3,42,671 rows  —  Items, categories, prices, veg flag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384048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3986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dim_delivery_partner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611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rows  —  Partner info and vehicle type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</a:rPr>
              <a:t>FACT TABLES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600200"/>
            <a:ext cx="384048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83480" y="1655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19293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1,49,166 rows  —  Order amount, discount, payment, status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377440"/>
            <a:ext cx="384048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83480" y="2432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fact_order_items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27066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3,42,994 rows  —  Line-item level order details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154680"/>
            <a:ext cx="384048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983480" y="3209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fact_delivery_perf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348386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1,49,166 rows  —  Estimated vs actual delivery time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3931920"/>
            <a:ext cx="384048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83480" y="3986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fact_ratings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42611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68,842 rows  —  Customer ratings per order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Numbers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920240" cy="13258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directly from the dataset — no assumptions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192024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93192" y="1417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1,49,166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93192" y="1874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1,38,054 completed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280160"/>
            <a:ext cx="1920240" cy="13258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68880" y="1280160"/>
            <a:ext cx="192024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42032" y="1417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₹4.85 Cr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42032" y="1874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42032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orders only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280160"/>
            <a:ext cx="1920240" cy="13258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17720" y="1280160"/>
            <a:ext cx="19202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90872" y="1417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₹351.75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90872" y="1874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90872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completed order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280160"/>
            <a:ext cx="1920240" cy="13258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766560" y="1280160"/>
            <a:ext cx="192024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39712" y="1417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39712" y="1874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39712" y="2148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11,112 orders cancelled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834640"/>
            <a:ext cx="1920240" cy="13258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0040" y="2834640"/>
            <a:ext cx="19202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93192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4.05 / 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93192" y="3429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Rating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68,842 ratings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68880" y="2834640"/>
            <a:ext cx="1920240" cy="13258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468880" y="2834640"/>
            <a:ext cx="192024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542032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63.84%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542032" y="3429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42032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Critical finding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2834640"/>
            <a:ext cx="1920240" cy="13258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617720" y="283464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690872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₹18.89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690872" y="3429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90872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 placed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66560" y="2834640"/>
            <a:ext cx="1920240" cy="132588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766560" y="2834640"/>
            <a:ext cx="1920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839712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839712" y="3429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City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39712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of all orders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 &amp; Time Patterns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Q1: Which city leads?   ·   Q3: When do orders peak?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43000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120640" y="1143000"/>
          <a:ext cx="3657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= 29% of all orders. Dinner (7–10 PM) and Lunch (12–2 PM) are the two busiest windows — partner allocation should match these peaks.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People Are Ordering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Q2: Top food categories   ·   Q10: Veg vs Non-Veg breakdown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47548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30352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Veg vs Non-Veg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303520" y="1600200"/>
            <a:ext cx="3383280" cy="118872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303520" y="1600200"/>
            <a:ext cx="109728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53212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532120" y="2057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54%   Revenue: 46%   Avg Price: ₹148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03520" y="3017520"/>
            <a:ext cx="3383280" cy="118872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303520" y="3017520"/>
            <a:ext cx="10972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532120" y="3108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Non-Vegetarian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32120" y="3474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46%   Revenue: 54%   Avg Price: ₹187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03520" y="4114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Non-veg items average ₹39 higher. Bundling veg items into combo deals could lift the revenue gap.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Trend — Jan to Dec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Q4: How has revenue grown month over month?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143000"/>
          <a:ext cx="8412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0166" y="4480560"/>
            <a:ext cx="6520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dip (₹41.3L) likely a seasonal slump — could be worth investigating with promo spend that month.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Q5: Cancellation patterns   ·   Q6: On-time delivery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389120" cy="3200400"/>
          </a:xfrm>
          <a:prstGeom prst="rect">
            <a:avLst/>
          </a:prstGeom>
          <a:solidFill>
            <a:srgbClr val="FFF1F0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63.84%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</a:rPr>
              <a:t>Late Delivery Rate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out of every 3 deliveries arrive after the promised ETA.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#1 risk to customer satisfaction.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143000"/>
            <a:ext cx="3657600" cy="137160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120640" y="12344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7E22"/>
                </a:solidFill>
              </a:rPr>
              <a:t>+8 mins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120640" y="1783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beyond promised ETA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846320" y="2697480"/>
          <a:ext cx="384048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Ratings &amp; Acquisition Channels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Q7: Which channel brings best customers?   ·   Q8: How do cuisines rate?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4389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937760" y="109728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44074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customers account for 26% of revenue despite lower spend on acquisition — a formal referral programme would be one of the cheapest growth levers here.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Discounts &amp; Top Restaurants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Q11: Do discounts drive bigger orders?   ·   Q12: Star restaurant partners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143000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120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Restaurants by Revenue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120640" y="1554480"/>
            <a:ext cx="36576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166360" y="1581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75120" y="15819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09560" y="15819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1920240"/>
            <a:ext cx="3657600" cy="42062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166360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Garden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675120" y="1993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09560" y="1993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₹8.2L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120640" y="2377440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166360" y="2450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 House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675120" y="2450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909560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₹7.9L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120640" y="2834640"/>
            <a:ext cx="3657600" cy="42062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166360" y="2907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 Palace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675120" y="2907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909560" y="2907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₹7.1L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120640" y="3291840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166360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Dosa Corner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675120" y="3364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Indian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909560" y="33649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₹6.8L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120640" y="3749040"/>
            <a:ext cx="3657600" cy="42062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166360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 Wok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675120" y="3822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909560" y="38221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₹6.4L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365760" y="41605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discounts do drive larger baskets (₹312 → ₹423). Switch to threshold-based offers (e.g. ₹75 off on ₹500+) to grow revenue without hurting margins.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Business Should 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Data-driven recommendations — ranked by urgency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78408" y="1389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FIRST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Late Delivery Problem (63.84%)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city-level SLA targets — 90% on-time as the goal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 delivery partners before lunch &amp; dinner peaks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retrain partners with consistently high delay times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7432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83280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04488" y="1389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0" y="1755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Cancellations &amp; Improve Customer Trust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83280" y="242316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real-time ETA updates right after order acceptance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partner assignment logic to avoid long wait times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loyalty incentive to win back cancelled customers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72200" y="1143000"/>
            <a:ext cx="27432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09360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30568" y="1389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09360" y="1755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What's Working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242316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= 29% of orders — test new features here first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formal referral programme (cheapest acquisition lever)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from flat discounts to ₹X off on orders above ₹Y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 Working on This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160520" cy="1481328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91440" cy="14813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messy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performance table had mismatched timestamps and some rows where actual_time &lt; estimated_time, which needed careful cleaning before any analysis made sense.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097280"/>
            <a:ext cx="4160520" cy="1481328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91440" cy="14813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01768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makes joins easy — but you have to think before merging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01768" y="15544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all 8 CSVs into one master dataframe worked, but I had to be careful about row inflation when joining fact_order_items (multiple rows per order).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4160520" cy="1481328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91440" cy="14813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66928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interesting finding came from a simple percentage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32461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63.84% late delivery rate was just a groupby + value_counts. Sometimes the simplest code gives the most important insight — you don't always need complex models.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788920"/>
            <a:ext cx="4160520" cy="1481328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0600" y="2788920"/>
            <a:ext cx="91440" cy="148132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01768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choices matter more than I expected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01768" y="32461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 chart for acquisition channels looked fine, but a bar chart told the story faster. Choosing the right chart type for the audience actually changed how I structured the whole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Startup — Data Analysis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NumPy  ·  Matplotlib  ·  Seaborn  ·  Google Colab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83464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4114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67512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1072</Words>
  <Application>Microsoft Office PowerPoint</Application>
  <PresentationFormat>On-screen Show (16:9)</PresentationFormat>
  <Paragraphs>184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Startup — Data Analysis</dc:title>
  <dc:subject>PptxGenJS Presentation</dc:subject>
  <dc:creator>PptxGenJS</dc:creator>
  <cp:lastModifiedBy>Mohd Ziyan</cp:lastModifiedBy>
  <cp:revision>3</cp:revision>
  <dcterms:created xsi:type="dcterms:W3CDTF">2026-04-30T18:53:34Z</dcterms:created>
  <dcterms:modified xsi:type="dcterms:W3CDTF">2026-05-03T15:38:27Z</dcterms:modified>
</cp:coreProperties>
</file>